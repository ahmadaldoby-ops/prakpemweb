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63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638190" y="1645920"/>
            <a:ext cx="914400" cy="9144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Georgia"/>
              </a:defRPr>
            </a:pPr>
            <a:r>
              <a:t>MUSEUM DIGITAL INTERAKTIF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WARISAN MELAYU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Digital Cultural Portfolio &amp; Museum Peradaban Melayu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  <a:latin typeface="Arial"/>
              </a:defRPr>
            </a:pPr>
            <a:r>
              <a:t>Oleh: Ahmad Aldo Maratua (NIM: 243510579)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Program Studi Teknik Informatika - Fakultas Teknik - Universitas Riau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Georgia"/>
              </a:defRPr>
            </a:pPr>
            <a:r>
              <a:t>WARISAN MELAYU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B22222"/>
                </a:solidFill>
                <a:latin typeface="Georgia"/>
              </a:defRPr>
            </a:pPr>
            <a:r>
              <a:t>Latar Belakang &amp; Urgensi Digital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8200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B22222"/>
                </a:solidFill>
                <a:latin typeface="Georgia"/>
              </a:defRPr>
            </a:pPr>
            <a:r>
              <a:t>Urgensi Pelestarian Budaya:</a:t>
            </a:r>
          </a:p>
          <a:p>
            <a:br/>
            <a:pPr>
              <a:defRPr sz="1300">
                <a:solidFill>
                  <a:srgbClr val="281E19"/>
                </a:solidFill>
              </a:defRPr>
            </a:pPr>
            <a:r>
              <a:t>Kebudayaan Melayu adalah salah satu pilar peradaban bahari terbesar di Nusantara yang mencakup bahasa, wastra, kuliner, kesenian, dan nilai moral.</a:t>
            </a:r>
            <a:br/>
            <a:br/>
            <a:r>
              <a:t>Namun, arus globalisasi dan digitalisasi menuntut media alternatif penyajian yang interaktif agar warisan budaya tidak lekang oleh waktu dan tetap digemari generasi muda.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828800"/>
            <a:ext cx="53035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800" b="1">
                <a:solidFill>
                  <a:srgbClr val="B22222"/>
                </a:solidFill>
                <a:latin typeface="Georgia"/>
              </a:defRPr>
            </a:pPr>
            <a:r>
              <a:t>Masalah &amp; Solusi Aplikasi: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86000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B22222"/>
                </a:solidFill>
              </a:defRPr>
            </a:pPr>
            <a:r>
              <a:t>Keterbatasan Media Konvensional</a:t>
            </a:r>
          </a:p>
          <a:p>
            <a:pPr>
              <a:defRPr sz="1100">
                <a:solidFill>
                  <a:srgbClr val="281E19"/>
                </a:solidFill>
              </a:defRPr>
            </a:pPr>
            <a:r>
              <a:t>Dokumentasi buku teks lama kurang menarik minat generasi Z yang terbiasa dengan interaktivitas instan dan konten multimedia visual.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14800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2062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B22222"/>
                </a:solidFill>
              </a:defRPr>
            </a:pPr>
            <a:r>
              <a:t>Solusi: Warisan Melayu Museum Digital</a:t>
            </a:r>
          </a:p>
          <a:p>
            <a:pPr>
              <a:defRPr sz="1100">
                <a:solidFill>
                  <a:srgbClr val="281E19"/>
                </a:solidFill>
              </a:defRPr>
            </a:pPr>
            <a:r>
              <a:t>Mengintegrasikan peta interaktif SVG, catalog ensiklopedia, detail tab filosofi adat, dan penanda artikel (bookmark) dalam satu halaman web.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Georgia"/>
              </a:defRPr>
            </a:pPr>
            <a:r>
              <a:t>WARISAN MELAYU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B22222"/>
                </a:solidFill>
                <a:latin typeface="Georgia"/>
              </a:defRPr>
            </a:pPr>
            <a:r>
              <a:t>Arsitektur &amp; Teknologi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8200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800" b="1">
                <a:solidFill>
                  <a:srgbClr val="B22222"/>
                </a:solidFill>
                <a:latin typeface="Georgia"/>
              </a:defRPr>
            </a:pPr>
            <a:r>
              <a:t>Pendekatan Tanpa Framework (Vanilla Tech Stack)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77440"/>
            <a:ext cx="336499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B22222"/>
                </a:solidFill>
                <a:latin typeface="Georgia"/>
              </a:defRPr>
            </a:pPr>
            <a:r>
              <a:t>HTML5 Semantik</a:t>
            </a:r>
          </a:p>
          <a:p>
            <a:br/>
            <a:pPr>
              <a:defRPr sz="1050">
                <a:solidFill>
                  <a:srgbClr val="281E19"/>
                </a:solidFill>
              </a:defRPr>
            </a:pPr>
            <a:r>
              <a:t>Struktur dokumen bersih dan berstandardisasi.</a:t>
            </a:r>
            <a:br/>
            <a:br/>
            <a:r>
              <a:t>* Menggunakan elemen kontainer semantik seperti &lt;header&gt;, &lt;nav&gt;, &lt;section&gt;, &lt;main&gt;, dan &lt;footer&gt;.</a:t>
            </a:r>
            <a:br/>
            <a:r>
              <a:t>* Berguna untuk optimalisasi SEO dan kemudahan dibaca oleh pembaca layar (screen readers).</a:t>
            </a:r>
            <a:br/>
            <a:r>
              <a:t>* Integrasi inline SVG untuk peta wilayah yang interaktif.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377440"/>
            <a:ext cx="336499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2514600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B22222"/>
                </a:solidFill>
                <a:latin typeface="Georgia"/>
              </a:defRPr>
            </a:pPr>
            <a:r>
              <a:t>CSS3 Murni (No Framework)</a:t>
            </a:r>
          </a:p>
          <a:p>
            <a:br/>
            <a:pPr>
              <a:defRPr sz="1050">
                <a:solidFill>
                  <a:srgbClr val="281E19"/>
                </a:solidFill>
              </a:defRPr>
            </a:pPr>
            <a:r>
              <a:t>Kustomisasi gaya penuh tanpa dependensi eksternal.</a:t>
            </a:r>
            <a:br/>
            <a:br/>
            <a:r>
              <a:t>* Variabel CSS (:root design tokens) untuk pengaturan warna, sudut melingkar, dan bayangan.</a:t>
            </a:r>
            <a:br/>
            <a:r>
              <a:t>* Transisi warna halus saat pergantian tema Gelap/Terang.</a:t>
            </a:r>
            <a:br/>
            <a:r>
              <a:t>* Efek panel transparan Glassmorphism dan background pola ukiran Pucuk Rebung murni gradient CSS.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4" y="2377440"/>
            <a:ext cx="336499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2514600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B22222"/>
                </a:solidFill>
                <a:latin typeface="Georgia"/>
              </a:defRPr>
            </a:pPr>
            <a:r>
              <a:t>Vanilla JavaScript</a:t>
            </a:r>
          </a:p>
          <a:p>
            <a:br/>
            <a:pPr>
              <a:defRPr sz="1050">
                <a:solidFill>
                  <a:srgbClr val="281E19"/>
                </a:solidFill>
              </a:defRPr>
            </a:pPr>
            <a:r>
              <a:t>Logika interaktif murni berparadigma prosedural.</a:t>
            </a:r>
            <a:br/>
            <a:br/>
            <a:r>
              <a:t>* Pengelolaan data lokal catalog budaya dalam memori terstruktur (State Object).</a:t>
            </a:r>
            <a:br/>
            <a:r>
              <a:t>* Live filtering pencarian data real-time pada penulisan input.</a:t>
            </a:r>
            <a:br/>
            <a:r>
              <a:t>* Bookmark engine, modal tab switcher, dan integrasi Clipboard API untuk sharing konten.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Georgia"/>
              </a:defRPr>
            </a:pPr>
            <a:r>
              <a:t>WARISAN MELAYU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B22222"/>
                </a:solidFill>
                <a:latin typeface="Georgia"/>
              </a:defRPr>
            </a:pPr>
            <a:r>
              <a:t>Konsep Desain &amp; Skema Warna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8200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B22222"/>
                </a:solidFill>
                <a:latin typeface="Georgia"/>
              </a:defRPr>
            </a:pPr>
            <a:r>
              <a:t>Palet Warna Utama (Design Tokens):</a:t>
            </a:r>
          </a:p>
          <a:p>
            <a:br/>
            <a:pPr>
              <a:defRPr sz="1200">
                <a:solidFill>
                  <a:srgbClr val="281E19"/>
                </a:solidFill>
              </a:defRPr>
            </a:pPr>
            <a:r>
              <a:t>* Melayu Red (#B22222): Melambangkan keberanian, ketegasan adat, dan marwah kerajaan Melayu.</a:t>
            </a:r>
            <a:br/>
            <a:r>
              <a:t>* Melayu Gold (#D4AF37): Melambangkan kejayaan, keagungan benang songket, dan budi pekerti luhur.</a:t>
            </a:r>
            <a:br/>
            <a:r>
              <a:t>* Melayu Cream (#FFF8F0): Melambangkan kelembutan naskah sejarah lama dan memberikan kenyamanan membaca tinggi.</a:t>
            </a:r>
            <a:br/>
            <a:r>
              <a:t>* Dark Background (#120F0D): Warna arang ulin mewah untuk tema malam yang ramah di mata.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B22222"/>
                </a:solidFill>
                <a:latin typeface="Georgia"/>
              </a:defRPr>
            </a:pPr>
            <a:r>
              <a:t>Ornamen Pola Tradisional 'Pucuk Rebung':</a:t>
            </a:r>
          </a:p>
          <a:p>
            <a:br/>
            <a:pPr>
              <a:defRPr sz="1200">
                <a:solidFill>
                  <a:srgbClr val="281E19"/>
                </a:solidFill>
              </a:defRPr>
            </a:pPr>
            <a:r>
              <a:t>Dalam rancangan CSS murni, pola Pucuk Rebung tradisional berhasil digambar secara prosedural menggunakan fungsi radial-gradient CSS, bukan menggunakan file aset gambar png/jpg.</a:t>
            </a:r>
            <a:br/>
            <a:br/>
            <a:r>
              <a:t>Hal ini menjamin ukuran file CSS tetap sangat kecil (lancar saat dimuat) namun visual pattern tetap tajam di layar perangkat resolusi tinggi mana pun.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4846320"/>
            <a:ext cx="640080" cy="64008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914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b="1">
                <a:solidFill>
                  <a:srgbClr val="281E19"/>
                </a:solidFill>
                <a:latin typeface="Arial"/>
              </a:defRPr>
            </a:pPr>
            <a:r>
              <a:t>Merah</a:t>
            </a:r>
          </a:p>
        </p:txBody>
      </p:sp>
      <p:sp>
        <p:nvSpPr>
          <p:cNvPr id="9" name="Oval 8"/>
          <p:cNvSpPr/>
          <p:nvPr/>
        </p:nvSpPr>
        <p:spPr>
          <a:xfrm>
            <a:off x="1874520" y="4846320"/>
            <a:ext cx="640080" cy="6400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5577840"/>
            <a:ext cx="914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b="1">
                <a:solidFill>
                  <a:srgbClr val="281E19"/>
                </a:solidFill>
                <a:latin typeface="Arial"/>
              </a:defRPr>
            </a:pPr>
            <a:r>
              <a:t>Emas</a:t>
            </a:r>
          </a:p>
        </p:txBody>
      </p:sp>
      <p:sp>
        <p:nvSpPr>
          <p:cNvPr id="11" name="Oval 10"/>
          <p:cNvSpPr/>
          <p:nvPr/>
        </p:nvSpPr>
        <p:spPr>
          <a:xfrm>
            <a:off x="3063240" y="4846320"/>
            <a:ext cx="640080" cy="640080"/>
          </a:xfrm>
          <a:prstGeom prst="ellipse">
            <a:avLst/>
          </a:prstGeom>
          <a:solidFill>
            <a:srgbClr val="FFF8F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5577840"/>
            <a:ext cx="914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b="1">
                <a:solidFill>
                  <a:srgbClr val="281E19"/>
                </a:solidFill>
                <a:latin typeface="Arial"/>
              </a:defRPr>
            </a:pPr>
            <a:r>
              <a:t>Krem</a:t>
            </a:r>
          </a:p>
        </p:txBody>
      </p:sp>
      <p:sp>
        <p:nvSpPr>
          <p:cNvPr id="13" name="Oval 12"/>
          <p:cNvSpPr/>
          <p:nvPr/>
        </p:nvSpPr>
        <p:spPr>
          <a:xfrm>
            <a:off x="4251960" y="4846320"/>
            <a:ext cx="640080" cy="640080"/>
          </a:xfrm>
          <a:prstGeom prst="ellipse">
            <a:avLst/>
          </a:prstGeom>
          <a:solidFill>
            <a:srgbClr val="120F0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5577840"/>
            <a:ext cx="914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b="1">
                <a:solidFill>
                  <a:srgbClr val="281E19"/>
                </a:solidFill>
                <a:latin typeface="Arial"/>
              </a:defRPr>
            </a:pPr>
            <a:r>
              <a:t>Gelap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Georgia"/>
              </a:defRPr>
            </a:pPr>
            <a:r>
              <a:t>WARISAN MELAYU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B22222"/>
                </a:solidFill>
                <a:latin typeface="Georgia"/>
              </a:defRPr>
            </a:pPr>
            <a:r>
              <a:t>Peta Persebaran Budaya SVG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8200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B22222"/>
                </a:solidFill>
                <a:latin typeface="Georgia"/>
              </a:defRPr>
            </a:pPr>
            <a:r>
              <a:t>Representasi Vektor Geografis:</a:t>
            </a:r>
          </a:p>
          <a:p>
            <a:br/>
            <a:pPr>
              <a:defRPr sz="1250">
                <a:solidFill>
                  <a:srgbClr val="281E19"/>
                </a:solidFill>
              </a:defRPr>
            </a:pPr>
            <a:r>
              <a:t>* Menggunakan peta Sumatra &amp; Kalimantan Barat yang dibuat langsung dengan inline SVG &lt;path&gt; dan &lt;text&gt;.</a:t>
            </a:r>
            <a:br/>
            <a:r>
              <a:t>* Setiap elemen wilayah bertindak sebagai tombol interaktif yang memiliki data atribut 'data-province'.</a:t>
            </a:r>
            <a:br/>
            <a:r>
              <a:t>* Hover effects di CSS mengubah warna area dengan efek transisi halus.</a:t>
            </a:r>
            <a:br/>
            <a:r>
              <a:t>* Mengurangi konsumsi memori bandwidth internet karena tidak menggunakan data peta gambar raster berat.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3035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B22222"/>
                </a:solidFill>
                <a:latin typeface="Georgia"/>
              </a:defRPr>
            </a:pPr>
            <a:r>
              <a:t>Sistem Pembaruan Data Dinamis:</a:t>
            </a:r>
          </a:p>
          <a:p>
            <a:br/>
            <a:pPr>
              <a:defRPr sz="1100">
                <a:solidFill>
                  <a:srgbClr val="281E19"/>
                </a:solidFill>
              </a:defRPr>
            </a:pPr>
            <a:r>
              <a:t>Ketika provinsi pada peta di-klik, JavaScript akan menjalankan fungsi 'setProvince(provinceKey)':</a:t>
            </a:r>
            <a:br/>
            <a:br/>
            <a:r>
              <a:t>1. Menghapus kelas '.active' dari semua wilayah peta lainnya dan menambahkannya ke wilayah terpilih.</a:t>
            </a:r>
            <a:br/>
            <a:r>
              <a:t>2. Mencari data wilayah di 'provinceData' (Riau, Kepri, Jambi, Sumut, Kalbar).</a:t>
            </a:r>
            <a:br/>
            <a:r>
              <a:t>3. Menyuntikkan (innerHTML injection) judul, ikon representasi, deskripsi wilayah, dan daftar makanan/busana adat daerah ke elemen panel informasi secara langsung.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Georgia"/>
              </a:defRPr>
            </a:pPr>
            <a:r>
              <a:t>WARISAN MELAYU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B22222"/>
                </a:solidFill>
                <a:latin typeface="Georgia"/>
              </a:defRPr>
            </a:pPr>
            <a:r>
              <a:t>Ensiklopedi Budaya &amp; Modal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8200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B22222"/>
                </a:solidFill>
                <a:latin typeface="Georgia"/>
              </a:defRPr>
            </a:pPr>
            <a:r>
              <a:t>Etalase Budaya Terfilter Dinamis:</a:t>
            </a:r>
          </a:p>
          <a:p>
            <a:br/>
            <a:pPr>
              <a:defRPr sz="1200">
                <a:solidFill>
                  <a:srgbClr val="281E19"/>
                </a:solidFill>
              </a:defRPr>
            </a:pPr>
            <a:r>
              <a:t>* Katalog budaya berisi aneka pakaian adat, kuliner khas, rumah adat, kesenian tarian/musik, dan sastra Melayu.</a:t>
            </a:r>
            <a:br/>
            <a:r>
              <a:t>* Integrasi filter tombol menu kategori dengan input pencarian langsung (live text filter).</a:t>
            </a:r>
            <a:br/>
            <a:r>
              <a:t>* DOM kartu di-render ulang secara instan oleh fungsi JS 'renderCultureCards()' saat ada ketukan atau ketikan kata kunci.</a:t>
            </a:r>
            <a:br/>
            <a:r>
              <a:t>* Dilengkapi 'Empty State Handler' jika pencarian tidak membuahkan hasil.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3035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B22222"/>
                </a:solidFill>
                <a:latin typeface="Georgia"/>
              </a:defRPr>
            </a:pPr>
            <a:r>
              <a:t>Modul Detail Modal Bersistem Tab:</a:t>
            </a:r>
          </a:p>
          <a:p>
            <a:br/>
            <a:pPr>
              <a:defRPr sz="1100">
                <a:solidFill>
                  <a:srgbClr val="281E19"/>
                </a:solidFill>
              </a:defRPr>
            </a:pPr>
            <a:r>
              <a:t>Saat kartu budaya di-klik, pop-up modal overlay akan aktif membawa detail lengkap entitas:</a:t>
            </a:r>
            <a:br/>
            <a:br/>
            <a:r>
              <a:t>* Tab Sejarah &amp; Makna: Deskripsi rinci sejarah perkembangan adat.</a:t>
            </a:r>
            <a:br/>
            <a:r>
              <a:t>* Tab Filosofi Adat: Makna luhur yang dikandung di balik pakaian, rumah adat, atau makanan.</a:t>
            </a:r>
            <a:br/>
            <a:r>
              <a:t>* Tab Fakta Unik: Trivia menarik penambah wawasan pembaca.</a:t>
            </a:r>
            <a:br/>
            <a:r>
              <a:t>* Tombol Bagikan Budaya: Menyalin tautan web secara otomatis ke clipboard untuk fitur sharing.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Georgia"/>
              </a:defRPr>
            </a:pPr>
            <a:r>
              <a:t>WARISAN MELAYU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B22222"/>
                </a:solidFill>
                <a:latin typeface="Georgia"/>
              </a:defRPr>
            </a:pPr>
            <a:r>
              <a:t>Bookmark Artikel &amp; Live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8200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B22222"/>
                </a:solidFill>
                <a:latin typeface="Georgia"/>
              </a:defRPr>
            </a:pPr>
            <a:r>
              <a:t>Sistem Bookmark Artikel Budaya:</a:t>
            </a:r>
          </a:p>
          <a:p>
            <a:br/>
            <a:pPr>
              <a:defRPr sz="1200">
                <a:solidFill>
                  <a:srgbClr val="281E19"/>
                </a:solidFill>
              </a:defRPr>
            </a:pPr>
            <a:r>
              <a:t>* Pengguna dapat menandai artikel penting (seperti filosofi tenun songket Melayu atau sastra Pulau Penyengat) dengan tombol Simpan.</a:t>
            </a:r>
            <a:br/>
            <a:r>
              <a:t>* Logika bookmark bekerja secara dinamis di memori state array 'bookmarkedArticles'.</a:t>
            </a:r>
            <a:br/>
            <a:r>
              <a:t>* Secara otomatis memicu pembaruan lencana angka jumlah artikel (bookmark badge) di bilah navigasi utama.</a:t>
            </a:r>
            <a:br/>
            <a:r>
              <a:t>* Pengguna dapat mem-filter tampilan artikel agar hanya menampilkan yang tersimpan saja.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3035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B22222"/>
                </a:solidFill>
                <a:latin typeface="Georgia"/>
              </a:defRPr>
            </a:pPr>
            <a:r>
              <a:t>Mesin Pencari Dinamis (Live Search Engine):</a:t>
            </a:r>
          </a:p>
          <a:p>
            <a:br/>
            <a:pPr>
              <a:defRPr sz="1100">
                <a:solidFill>
                  <a:srgbClr val="281E19"/>
                </a:solidFill>
              </a:defRPr>
            </a:pPr>
            <a:r>
              <a:t>* Memproses input pencarian huruf per huruf dengan event listener 'input'.</a:t>
            </a:r>
            <a:br/>
            <a:r>
              <a:t>* Mencari kecocokan kueri (query matching) pada properti nama, deksripsi, dan daerah asal item catalog.</a:t>
            </a:r>
            <a:br/>
            <a:r>
              <a:t>* Membangun ulang elemen visual DOM kartu dengan animasi transisi memudar (fade-in) yang mulus.</a:t>
            </a:r>
            <a:br/>
            <a:r>
              <a:t>* Menghindari keterlambatan (lag) respons UI karena proses pencarian dilakukan di sisi client-side dengan data array terstruktur.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Georgia"/>
              </a:defRPr>
            </a:pPr>
            <a:r>
              <a:t>WARISAN MELAYU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B22222"/>
                </a:solidFill>
                <a:latin typeface="Georgia"/>
              </a:defRPr>
            </a:pPr>
            <a:r>
              <a:t>Analisis Implementasi Kode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8200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500" b="1">
                <a:solidFill>
                  <a:srgbClr val="B22222"/>
                </a:solidFill>
                <a:latin typeface="Georgia"/>
              </a:defRPr>
            </a:pPr>
            <a:r>
              <a:t>1. CSS Variable Theme Switching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502920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50" b="0">
                <a:solidFill>
                  <a:srgbClr val="281E19"/>
                </a:solidFill>
                <a:latin typeface="Courier New"/>
              </a:defRPr>
            </a:pPr>
            <a:r>
              <a:t>:root {</a:t>
            </a:r>
            <a:br/>
            <a:r>
              <a:t>    --melayu-red: #B22222; --melayu-cream: #FFF8F0;</a:t>
            </a:r>
            <a:br/>
            <a:r>
              <a:t>    --radius-xl: 20px; --font-poppins: 'Poppins';</a:t>
            </a:r>
            <a:br/>
            <a:r>
              <a:t>}</a:t>
            </a:r>
            <a:br/>
            <a:r>
              <a:t>body {</a:t>
            </a:r>
            <a:br/>
            <a:r>
              <a:t>    background-color: var(--melayu-cream);</a:t>
            </a:r>
            <a:br/>
            <a:r>
              <a:t>    color: var(--melayu-brown);</a:t>
            </a:r>
            <a:br/>
            <a:r>
              <a:t>}</a:t>
            </a:r>
            <a:br/>
            <a:r>
              <a:t>body.dark {</a:t>
            </a:r>
            <a:br/>
            <a:r>
              <a:t>    background-color: #120F0D; color: #f3f4f6;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828800"/>
            <a:ext cx="53035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500" b="1">
                <a:solidFill>
                  <a:srgbClr val="B22222"/>
                </a:solidFill>
                <a:latin typeface="Georgia"/>
              </a:defRPr>
            </a:pPr>
            <a:r>
              <a:t>2. JS State &amp; Bookmark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286000"/>
            <a:ext cx="530352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50" b="0">
                <a:solidFill>
                  <a:srgbClr val="281E19"/>
                </a:solidFill>
                <a:latin typeface="Courier New"/>
              </a:defRPr>
            </a:pPr>
            <a:r>
              <a:t>const state = {</a:t>
            </a:r>
            <a:br/>
            <a:r>
              <a:t>    darkMode: false,</a:t>
            </a:r>
            <a:br/>
            <a:r>
              <a:t>    bookmarkedArticles: [],</a:t>
            </a:r>
            <a:br/>
            <a:r>
              <a:t>    showBookmarksOnly: false</a:t>
            </a:r>
            <a:br/>
            <a:r>
              <a:t>};</a:t>
            </a:r>
            <a:br/>
            <a:br/>
            <a:r>
              <a:t>function toggleBookmark(id) {</a:t>
            </a:r>
            <a:br/>
            <a:r>
              <a:t>    const idx = state.bookmarkedArticles.indexOf(id);</a:t>
            </a:r>
            <a:br/>
            <a:r>
              <a:t>    if (idx &gt; -1) {</a:t>
            </a:r>
            <a:br/>
            <a:r>
              <a:t>        state.bookmarkedArticles.splice(idx, 1);</a:t>
            </a:r>
            <a:br/>
            <a:r>
              <a:t>    } else {</a:t>
            </a:r>
            <a:br/>
            <a:r>
              <a:t>        state.bookmarkedArticles.push(id);</a:t>
            </a:r>
            <a:br/>
            <a:r>
              <a:t>    }</a:t>
            </a:r>
            <a:br/>
            <a:r>
              <a:t>    updateBookmarkBadge();</a:t>
            </a:r>
            <a:br/>
            <a:r>
              <a:t>    renderArticles();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5638190" y="1188720"/>
            <a:ext cx="914400" cy="9144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  <a:latin typeface="Georgia"/>
              </a:defRPr>
            </a:pPr>
            <a:r>
              <a:t>KESIMPULAN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3790" y="2926080"/>
            <a:ext cx="2743200" cy="2743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>
                <a:solidFill>
                  <a:srgbClr val="FFFFFF"/>
                </a:solidFill>
              </a:defRPr>
            </a:pPr>
            <a:r>
              <a:t>1. Performa Tinggi: Vanilla architecture (tanpa library berat) menjamin pemuatan halaman sangat cepat dan responsif.</a:t>
            </a:r>
            <a:br/>
            <a:br/>
            <a:r>
              <a:t>2. Desain Premium &amp; Responsif: Tema Red &amp; Gold disandingkan dengan Pucuk Rebung murni CSS menciptakan antarmuka yang berciri khas budaya tinggi.</a:t>
            </a:r>
            <a:br/>
            <a:br/>
            <a:r>
              <a:t>3. Fitur Interaktif Edukatif: Peta SVG interaktif dan etalase ensiklopedia bersistem tab memberikan pengalaman penjelajahan budaya yang mendalam bagi masyarakat digital.</a:t>
            </a:r>
            <a:br/>
            <a:br/>
            <a:r>
              <a:t>4. Fungsionalitas Artikel &amp; Bookmark: Fitur penanda artikel membantu retensi pembaca dalam literasi warisan Nusantara.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